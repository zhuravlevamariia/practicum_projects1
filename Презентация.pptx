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09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11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6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60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6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16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075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792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006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75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508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4475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107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378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806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029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765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2647B-1EE0-E0BE-4053-FD42052A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59ADB8-CFF1-7BD7-6789-6716D136D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8DED55-C52F-9506-F060-79D3FDCBD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7EF71E-4DFF-1102-AA40-F949DA637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C8765-8631-B86C-3683-BC3C04D6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1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266BB5D-29FE-4FA4-9AFD-A7F072EE87BD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1A2404-5FE1-49B4-8760-5CB90B9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3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6D03C-A906-83C5-A9EC-4975F634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578289"/>
            <a:ext cx="10364451" cy="1596177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Автоматизация процесса оформления и обработки заказов в интернет-магазине «Переделкино»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6B697F-59DE-F624-1C6A-0772335EA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3868911"/>
            <a:ext cx="10364452" cy="3424107"/>
          </a:xfrm>
        </p:spPr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Проектная работа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04FB1D-81B0-8F0E-6CDF-814022ABEF53}"/>
              </a:ext>
            </a:extLst>
          </p:cNvPr>
          <p:cNvSpPr txBox="1"/>
          <p:nvPr/>
        </p:nvSpPr>
        <p:spPr>
          <a:xfrm>
            <a:off x="1052052" y="5257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Исполнитель: Журавлёва Мария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651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6A97F-D4F9-0B2F-DB7D-DEEBE5B7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35" y="229792"/>
            <a:ext cx="10364451" cy="1596177"/>
          </a:xfrm>
        </p:spPr>
        <p:txBody>
          <a:bodyPr/>
          <a:lstStyle/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Проблемы 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текущей системы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73B410-FA14-E43F-7602-2CFE529F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55" y="2367901"/>
            <a:ext cx="3719185" cy="3424107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Отсутствие поисковой строки и фильтрации товаров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Ручная обработка заказов администратором (звонки, Excel, email)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Нет интеграции со складом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Ошибка сервиса онлайн-оплаты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Отсутствие личного кабинета и отслеживания статуса заказа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 работает онлайн-консультант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6F6C80-4559-2016-6432-5BB170DEC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209" y="229792"/>
            <a:ext cx="7574936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8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13180-EA9A-0BB5-DFA1-2C86CA94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2060"/>
                </a:solidFill>
                <a:effectLst/>
                <a:latin typeface="quote-cjk-patch"/>
              </a:rPr>
              <a:t>Цели проекта 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0E521-848D-1C6B-DD72-337C7756A407}"/>
              </a:ext>
            </a:extLst>
          </p:cNvPr>
          <p:cNvSpPr txBox="1"/>
          <p:nvPr/>
        </p:nvSpPr>
        <p:spPr>
          <a:xfrm>
            <a:off x="717754" y="1761669"/>
            <a:ext cx="4916129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Сократить обработку заказа: 1 час на заказ</a:t>
            </a:r>
          </a:p>
          <a:p>
            <a:endParaRPr lang="ru-RU" dirty="0"/>
          </a:p>
          <a:p>
            <a:r>
              <a:rPr lang="ru-RU" dirty="0"/>
              <a:t>Автоматическая проверка наличия на складе</a:t>
            </a:r>
          </a:p>
          <a:p>
            <a:endParaRPr lang="ru-RU" dirty="0"/>
          </a:p>
          <a:p>
            <a:r>
              <a:rPr lang="ru-RU" dirty="0"/>
              <a:t>Стабильная онлайн-оплата на сайте</a:t>
            </a:r>
          </a:p>
          <a:p>
            <a:endParaRPr lang="ru-RU" dirty="0"/>
          </a:p>
          <a:p>
            <a:r>
              <a:rPr lang="ru-RU" dirty="0"/>
              <a:t>Повторные покупки ↑ на </a:t>
            </a:r>
            <a:r>
              <a:rPr lang="ru-RU" sz="2800" dirty="0">
                <a:solidFill>
                  <a:srgbClr val="002060"/>
                </a:solidFill>
              </a:rPr>
              <a:t>30</a:t>
            </a:r>
            <a:r>
              <a:rPr lang="ru-RU" dirty="0"/>
              <a:t>%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EE968C-2D02-9C5A-A839-005EB304F1E0}"/>
              </a:ext>
            </a:extLst>
          </p:cNvPr>
          <p:cNvSpPr txBox="1"/>
          <p:nvPr/>
        </p:nvSpPr>
        <p:spPr>
          <a:xfrm>
            <a:off x="5712542" y="1761669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Конверсия из корзины ↑ на </a:t>
            </a:r>
            <a:r>
              <a:rPr lang="ru-RU" sz="2800" dirty="0">
                <a:solidFill>
                  <a:srgbClr val="002060"/>
                </a:solidFill>
              </a:rPr>
              <a:t>25</a:t>
            </a:r>
            <a:r>
              <a:rPr lang="ru-RU" dirty="0"/>
              <a:t>%</a:t>
            </a:r>
          </a:p>
          <a:p>
            <a:endParaRPr lang="ru-RU" dirty="0"/>
          </a:p>
          <a:p>
            <a:r>
              <a:rPr lang="ru-RU" dirty="0"/>
              <a:t>Автоматический расчёт доставки через API</a:t>
            </a:r>
          </a:p>
          <a:p>
            <a:endParaRPr lang="ru-RU" dirty="0"/>
          </a:p>
          <a:p>
            <a:r>
              <a:rPr lang="ru-RU" dirty="0"/>
              <a:t>Услуга сборки мебели (от </a:t>
            </a:r>
            <a:r>
              <a:rPr lang="ru-RU" sz="2800" dirty="0">
                <a:solidFill>
                  <a:srgbClr val="002060"/>
                </a:solidFill>
              </a:rPr>
              <a:t>30</a:t>
            </a:r>
            <a:r>
              <a:rPr lang="ru-RU" dirty="0"/>
              <a:t>% заказов)</a:t>
            </a:r>
          </a:p>
          <a:p>
            <a:endParaRPr lang="ru-RU" dirty="0"/>
          </a:p>
          <a:p>
            <a:r>
              <a:rPr lang="ru-RU" dirty="0"/>
              <a:t>Чат-бот: ответ за 5 секунд, снижение нагрузки операторов на </a:t>
            </a:r>
            <a:r>
              <a:rPr lang="ru-RU" sz="2800" dirty="0">
                <a:solidFill>
                  <a:srgbClr val="002060"/>
                </a:solidFill>
              </a:rPr>
              <a:t>40</a:t>
            </a:r>
            <a:r>
              <a:rPr lang="ru-RU" dirty="0"/>
              <a:t>%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907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B38B1-F503-04B0-D1B2-124EF296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40703" y="0"/>
            <a:ext cx="10364451" cy="1596177"/>
          </a:xfrm>
        </p:spPr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Целевая модель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TO-BE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20C35B-21C7-975E-7300-1983AC455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9" y="1849335"/>
            <a:ext cx="2347452" cy="3159330"/>
          </a:xfrm>
        </p:spPr>
        <p:txBody>
          <a:bodyPr>
            <a:normAutofit fontScale="4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Клиент ищет товар через поиск и фильтры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Добавляет в корзину, меняет количество, применяет промокод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Заполняет данные — система проверяет телефон и email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Выбирает доставку (самовывоз / по городу / межгород)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Заказывает сборку мебели (опционально)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Оплачивает картой на сайте (скидка 5%)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Получает SMS и email с номером заказа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Отслеживает статус в личном кабинете или через чат-бота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F64C9A-F429-2D43-F90D-BA4A6D2AC4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22" y="1289685"/>
            <a:ext cx="9099018" cy="447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2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32470-4370-D871-34BE-A15A787F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MVP (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минимально жизнеспособный продукт)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D08F095-2852-FAD2-32A2-752C9F85C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922678"/>
              </p:ext>
            </p:extLst>
          </p:nvPr>
        </p:nvGraphicFramePr>
        <p:xfrm>
          <a:off x="913774" y="1978026"/>
          <a:ext cx="9839470" cy="4565304"/>
        </p:xfrm>
        <a:graphic>
          <a:graphicData uri="http://schemas.openxmlformats.org/drawingml/2006/table">
            <a:tbl>
              <a:tblPr/>
              <a:tblGrid>
                <a:gridCol w="4919735">
                  <a:extLst>
                    <a:ext uri="{9D8B030D-6E8A-4147-A177-3AD203B41FA5}">
                      <a16:colId xmlns:a16="http://schemas.microsoft.com/office/drawing/2014/main" val="3666939055"/>
                    </a:ext>
                  </a:extLst>
                </a:gridCol>
                <a:gridCol w="4919735">
                  <a:extLst>
                    <a:ext uri="{9D8B030D-6E8A-4147-A177-3AD203B41FA5}">
                      <a16:colId xmlns:a16="http://schemas.microsoft.com/office/drawing/2014/main" val="340444082"/>
                    </a:ext>
                  </a:extLst>
                </a:gridCol>
              </a:tblGrid>
              <a:tr h="602896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Сейчас:</a:t>
                      </a:r>
                    </a:p>
                    <a:p>
                      <a:endParaRPr lang="ru-RU" sz="1500" b="0" dirty="0">
                        <a:effectLst/>
                        <a:latin typeface="quote-cjk-patch"/>
                      </a:endParaRPr>
                    </a:p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Регистрация по телефону/</a:t>
                      </a:r>
                      <a:r>
                        <a:rPr lang="en-US" sz="1500" b="0" dirty="0">
                          <a:effectLst/>
                          <a:latin typeface="quote-cjk-patch"/>
                        </a:rPr>
                        <a:t>email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Потом:</a:t>
                      </a:r>
                    </a:p>
                    <a:p>
                      <a:endParaRPr lang="ru-RU" sz="1500" b="0" dirty="0">
                        <a:effectLst/>
                        <a:latin typeface="quote-cjk-patch"/>
                      </a:endParaRPr>
                    </a:p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Система лояльности</a:t>
                      </a: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29650"/>
                  </a:ext>
                </a:extLst>
              </a:tr>
              <a:tr h="602896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Поиск, фильтры, сортировка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Эксклюзивные коллекции дизайнеров</a:t>
                      </a: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097579"/>
                  </a:ext>
                </a:extLst>
              </a:tr>
              <a:tr h="602896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Корзина (промокод, частичная оплата)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Онлайн-консультации с дизайнерами</a:t>
                      </a: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967350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Онлайн-оплата на сайте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943839"/>
                  </a:ext>
                </a:extLst>
              </a:tr>
              <a:tr h="602896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Доставка по РФ (СДЭК, Деловые линии)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81205"/>
                  </a:ext>
                </a:extLst>
              </a:tr>
              <a:tr h="602896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Сборка мебели 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500" b="0">
                        <a:effectLst/>
                        <a:latin typeface="quote-cjk-patch"/>
                      </a:endParaRP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1175"/>
                  </a:ext>
                </a:extLst>
              </a:tr>
              <a:tr h="602896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Личный кабинет с историей заказов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01690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Чат-бот</a:t>
                      </a:r>
                    </a:p>
                  </a:txBody>
                  <a:tcPr marL="78639" marR="104852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104852" marR="78639" marT="65532" marB="6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8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09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23821-B73C-BBCB-99A9-9752431C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Риски и управление ими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8EBC699-37F6-115D-5597-1C913F5C3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078871"/>
              </p:ext>
            </p:extLst>
          </p:nvPr>
        </p:nvGraphicFramePr>
        <p:xfrm>
          <a:off x="1249680" y="1690688"/>
          <a:ext cx="8981440" cy="4077492"/>
        </p:xfrm>
        <a:graphic>
          <a:graphicData uri="http://schemas.openxmlformats.org/drawingml/2006/table">
            <a:tbl>
              <a:tblPr/>
              <a:tblGrid>
                <a:gridCol w="4490720">
                  <a:extLst>
                    <a:ext uri="{9D8B030D-6E8A-4147-A177-3AD203B41FA5}">
                      <a16:colId xmlns:a16="http://schemas.microsoft.com/office/drawing/2014/main" val="2682340225"/>
                    </a:ext>
                  </a:extLst>
                </a:gridCol>
                <a:gridCol w="4490720">
                  <a:extLst>
                    <a:ext uri="{9D8B030D-6E8A-4147-A177-3AD203B41FA5}">
                      <a16:colId xmlns:a16="http://schemas.microsoft.com/office/drawing/2014/main" val="1824458126"/>
                    </a:ext>
                  </a:extLst>
                </a:gridCol>
              </a:tblGrid>
              <a:tr h="588504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Риск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Мера управления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698095"/>
                  </a:ext>
                </a:extLst>
              </a:tr>
              <a:tr h="588504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API </a:t>
                      </a:r>
                      <a:r>
                        <a:rPr lang="ru-RU" b="0">
                          <a:effectLst/>
                          <a:latin typeface="quote-cjk-patch"/>
                        </a:rPr>
                        <a:t>склада не готов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План Б — выгрузка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Excel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647656"/>
                  </a:ext>
                </a:extLst>
              </a:tr>
              <a:tr h="966828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Сбой платёжного шлюза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3 попытки оплаты + уведомление админа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842847"/>
                  </a:ext>
                </a:extLst>
              </a:tr>
              <a:tr h="966828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Сотрудники не принимают систему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Обучение + амбассадор из команды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952548"/>
                  </a:ext>
                </a:extLst>
              </a:tr>
              <a:tr h="966828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Клиенты не переходят на онлайн-оплату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Скидка 5% + баннер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89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73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B4B27-D016-69D7-2937-0A4AB9A5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C82E65-8437-F2C2-72D0-F324B0DAE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Было: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1 день обработки, звонки клиентам и на склад, ошибки оплаты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Стало: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1 час, полная автоматизация, онлайн-оплата, личный кабинет, чат-бот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Следующие шаги: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Утверждение концепции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технического задания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Реализация MVP (1–2 месяца)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Обучение персонала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Приёмка по критериям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3836819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4094</TotalTime>
  <Words>330</Words>
  <Application>Microsoft Office PowerPoint</Application>
  <PresentationFormat>Широкоэкранный</PresentationFormat>
  <Paragraphs>71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quote-cjk-patch</vt:lpstr>
      <vt:lpstr>Tw Cen MT</vt:lpstr>
      <vt:lpstr>Капля</vt:lpstr>
      <vt:lpstr>Автоматизация процесса оформления и обработки заказов в интернет-магазине «Переделкино»</vt:lpstr>
      <vt:lpstr>Проблемы  текущей системы</vt:lpstr>
      <vt:lpstr>Цели проекта </vt:lpstr>
      <vt:lpstr>Целевая модель TO-BE</vt:lpstr>
      <vt:lpstr>MVP (минимально жизнеспособный продукт)</vt:lpstr>
      <vt:lpstr>Риски и управление ими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Мария Куклева</dc:creator>
  <cp:lastModifiedBy>Мария Куклева</cp:lastModifiedBy>
  <cp:revision>2</cp:revision>
  <dcterms:created xsi:type="dcterms:W3CDTF">2026-06-02T21:42:52Z</dcterms:created>
  <dcterms:modified xsi:type="dcterms:W3CDTF">2026-07-31T09:20:53Z</dcterms:modified>
</cp:coreProperties>
</file>